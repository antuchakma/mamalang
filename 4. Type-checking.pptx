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B7C64B5-9F97-498A-AAD7-0A3BB5DDE4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39FF8D6-4EF4-4404-9381-EA680A04CB8B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B96AF3B-55C2-4162-901B-EB0B631CB26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EDB8DF4-43F9-4EBD-BA3D-ABFD0620EF5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24A7E8E-6A6B-4250-AC6D-4A010B3C454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4E34257-D970-49C4-B34C-52B5B64B06A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0B40B28-8A69-471D-A9B2-6164A977513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A7A10B2-899F-4FA4-9FA7-7973F982D7B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012AB36-4387-47FC-A984-F37FF253943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B47A14F-858D-41CC-A8BF-A56F28455D8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DC6E9E8-29D7-4ADA-85A7-764D2C6E2A6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D32DFFE-D14D-4059-8291-FD2D1862BDB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E58E7BF-425A-46E2-915F-002A7E36C7D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7479F80-2D72-48F4-B1D5-DF3E42FB8AF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4436E63-508D-40F7-9AF9-12B929B721B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ACC2797-6B91-4FDD-8FC3-B6C4E8A39AA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541DCF8-3272-4C8D-AD11-C48177FEABB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2DA76A9-94A6-4869-8D19-1FEAAC49CA9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0799547-9480-4037-9EE0-796817DD136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32DDE2A-9391-4840-80B1-A5186F0A98D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63D69E2-BE7C-47C1-8944-2FBFA69A85B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B89E7DF-AC55-4456-B1A7-A6D5337E497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56CEAC7-00FC-4D83-B619-D4926CBAD83A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2FC4406-0DA5-4993-B851-266F23D3E18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5ADABF-7181-4E59-9D9F-163D376A6B0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98DED0-BC65-41F2-81A0-9E997F2FFB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8000" b="1" strike="noStrike" spc="-1">
                <a:solidFill>
                  <a:srgbClr val="002060"/>
                </a:solidFill>
                <a:latin typeface="Calibri Light"/>
              </a:rPr>
              <a:t>Type Checking</a:t>
            </a:r>
            <a:endParaRPr lang="en-US" sz="80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Introduction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compiler must check that the source program follows both the syntactic and semantic conventions of the source language.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This checking, called </a:t>
            </a:r>
            <a:r>
              <a:rPr lang="en-US" sz="2800" b="1" i="1" strike="noStrike" spc="-1">
                <a:solidFill>
                  <a:srgbClr val="002060"/>
                </a:solidFill>
                <a:latin typeface="Calibri"/>
              </a:rPr>
              <a:t>static checking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, ensures that certain kinds of programming errors will be detected and reported.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static checks includes:</a:t>
            </a:r>
            <a:endParaRPr lang="en-US" sz="2800" b="0" strike="noStrike" spc="-1">
              <a:latin typeface="Arial"/>
            </a:endParaRPr>
          </a:p>
          <a:p>
            <a:pPr marL="514440" indent="-51444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Calibri Light"/>
              <a:buAutoNum type="arabicPeriod"/>
            </a:pPr>
            <a:r>
              <a:rPr lang="en-US" sz="2800" b="1" strike="noStrike" spc="-1">
                <a:solidFill>
                  <a:srgbClr val="002060"/>
                </a:solidFill>
                <a:latin typeface="Calibri"/>
              </a:rPr>
              <a:t>Type checks.</a:t>
            </a:r>
            <a:endParaRPr lang="en-US" sz="2800" b="0" strike="noStrike" spc="-1">
              <a:latin typeface="Arial"/>
            </a:endParaRPr>
          </a:p>
          <a:p>
            <a:pPr marL="514440" indent="-51444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Calibri Light"/>
              <a:buAutoNum type="arabicPeriod"/>
            </a:pPr>
            <a:r>
              <a:rPr lang="en-US" sz="2800" b="1" strike="noStrike" spc="-1">
                <a:solidFill>
                  <a:srgbClr val="002060"/>
                </a:solidFill>
                <a:latin typeface="Calibri"/>
              </a:rPr>
              <a:t>Flow-of-control check.</a:t>
            </a:r>
            <a:endParaRPr lang="en-US" sz="2800" b="0" strike="noStrike" spc="-1">
              <a:latin typeface="Arial"/>
            </a:endParaRPr>
          </a:p>
          <a:p>
            <a:pPr marL="514440" indent="-51444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Calibri Light"/>
              <a:buAutoNum type="arabicPeriod"/>
            </a:pPr>
            <a:r>
              <a:rPr lang="en-US" sz="2800" b="1" strike="noStrike" spc="-1">
                <a:solidFill>
                  <a:srgbClr val="002060"/>
                </a:solidFill>
                <a:latin typeface="Calibri"/>
              </a:rPr>
              <a:t>Uniqueness checks.</a:t>
            </a:r>
            <a:endParaRPr lang="en-US" sz="2800" b="0" strike="noStrike" spc="-1">
              <a:latin typeface="Arial"/>
            </a:endParaRPr>
          </a:p>
          <a:p>
            <a:pPr marL="514440" indent="-51444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Calibri Light"/>
              <a:buAutoNum type="arabicPeriod"/>
            </a:pPr>
            <a:r>
              <a:rPr lang="en-US" sz="2800" b="1" strike="noStrike" spc="-1">
                <a:solidFill>
                  <a:srgbClr val="002060"/>
                </a:solidFill>
                <a:latin typeface="Calibri"/>
              </a:rPr>
              <a:t>Name-related checks. 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Static Checking</a:t>
            </a:r>
            <a:endParaRPr lang="en-US" sz="6000" b="0" strike="noStrike" spc="-1">
              <a:latin typeface="Arial"/>
            </a:endParaRPr>
          </a:p>
        </p:txBody>
      </p:sp>
      <p:grpSp>
        <p:nvGrpSpPr>
          <p:cNvPr id="87" name="Group 37"/>
          <p:cNvGrpSpPr/>
          <p:nvPr/>
        </p:nvGrpSpPr>
        <p:grpSpPr>
          <a:xfrm>
            <a:off x="523440" y="1825920"/>
            <a:ext cx="11513160" cy="1918440"/>
            <a:chOff x="523440" y="1825920"/>
            <a:chExt cx="11513160" cy="1918440"/>
          </a:xfrm>
        </p:grpSpPr>
        <p:sp>
          <p:nvSpPr>
            <p:cNvPr id="88" name="Text Box 4"/>
            <p:cNvSpPr/>
            <p:nvPr/>
          </p:nvSpPr>
          <p:spPr>
            <a:xfrm>
              <a:off x="523440" y="2074680"/>
              <a:ext cx="1265040" cy="109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00"/>
                </a:spcBef>
                <a:buNone/>
              </a:pPr>
              <a:r>
                <a:rPr lang="en-US" sz="22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Token </a:t>
              </a:r>
              <a:endParaRPr lang="en-US" sz="22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22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Stream</a:t>
              </a:r>
              <a:endParaRPr lang="en-US" sz="2200" b="0" strike="noStrike" spc="-1">
                <a:latin typeface="Arial"/>
              </a:endParaRPr>
            </a:p>
          </p:txBody>
        </p:sp>
        <p:sp>
          <p:nvSpPr>
            <p:cNvPr id="89" name="Text Box 5"/>
            <p:cNvSpPr/>
            <p:nvPr/>
          </p:nvSpPr>
          <p:spPr>
            <a:xfrm>
              <a:off x="2464920" y="2297880"/>
              <a:ext cx="1150920" cy="821160"/>
            </a:xfrm>
            <a:prstGeom prst="rect">
              <a:avLst/>
            </a:prstGeom>
            <a:solidFill>
              <a:srgbClr val="FFFF99">
                <a:alpha val="70000"/>
              </a:srgbClr>
            </a:solidFill>
            <a:ln w="28575">
              <a:solidFill>
                <a:srgbClr val="9933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lang="en-US" sz="24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Parser</a:t>
              </a:r>
              <a:endParaRPr lang="en-US" sz="2400" b="0" strike="noStrike" spc="-1">
                <a:latin typeface="Arial"/>
              </a:endParaRPr>
            </a:p>
          </p:txBody>
        </p:sp>
        <p:sp>
          <p:nvSpPr>
            <p:cNvPr id="90" name="Text Box 6"/>
            <p:cNvSpPr/>
            <p:nvPr/>
          </p:nvSpPr>
          <p:spPr>
            <a:xfrm>
              <a:off x="5041080" y="2082240"/>
              <a:ext cx="1379880" cy="1186920"/>
            </a:xfrm>
            <a:prstGeom prst="rect">
              <a:avLst/>
            </a:prstGeom>
            <a:solidFill>
              <a:srgbClr val="FFFF99">
                <a:alpha val="70000"/>
              </a:srgbClr>
            </a:solidFill>
            <a:ln w="28575">
              <a:solidFill>
                <a:srgbClr val="9933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lang="en-US" sz="24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Static Checker</a:t>
              </a:r>
              <a:endParaRPr lang="en-US" sz="2400" b="0" strike="noStrike" spc="-1">
                <a:latin typeface="Arial"/>
              </a:endParaRPr>
            </a:p>
          </p:txBody>
        </p:sp>
        <p:sp>
          <p:nvSpPr>
            <p:cNvPr id="91" name="Text Box 7"/>
            <p:cNvSpPr/>
            <p:nvPr/>
          </p:nvSpPr>
          <p:spPr>
            <a:xfrm>
              <a:off x="8023320" y="1825920"/>
              <a:ext cx="1796040" cy="1918440"/>
            </a:xfrm>
            <a:prstGeom prst="rect">
              <a:avLst/>
            </a:prstGeom>
            <a:solidFill>
              <a:srgbClr val="FFFF99">
                <a:alpha val="70000"/>
              </a:srgbClr>
            </a:solidFill>
            <a:ln w="28575">
              <a:solidFill>
                <a:srgbClr val="9933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lang="en-US" sz="24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Intermediate Code Generator</a:t>
              </a:r>
              <a:endParaRPr lang="en-US" sz="2400" b="0" strike="noStrike" spc="-1">
                <a:latin typeface="Arial"/>
              </a:endParaRPr>
            </a:p>
          </p:txBody>
        </p:sp>
        <p:sp>
          <p:nvSpPr>
            <p:cNvPr id="92" name="Text Box 8"/>
            <p:cNvSpPr/>
            <p:nvPr/>
          </p:nvSpPr>
          <p:spPr>
            <a:xfrm>
              <a:off x="3712320" y="2059920"/>
              <a:ext cx="1177560" cy="143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00"/>
                </a:spcBef>
                <a:buNone/>
              </a:pPr>
              <a:r>
                <a:rPr lang="en-US" sz="22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Abstract Syntax Tree</a:t>
              </a:r>
              <a:endParaRPr lang="en-US" sz="2200" b="0" strike="noStrike" spc="-1">
                <a:latin typeface="Arial"/>
              </a:endParaRPr>
            </a:p>
          </p:txBody>
        </p:sp>
        <p:sp>
          <p:nvSpPr>
            <p:cNvPr id="93" name="Text Box 9"/>
            <p:cNvSpPr/>
            <p:nvPr/>
          </p:nvSpPr>
          <p:spPr>
            <a:xfrm>
              <a:off x="6506280" y="1929960"/>
              <a:ext cx="1633680" cy="17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00"/>
                </a:spcBef>
                <a:buNone/>
              </a:pPr>
              <a:r>
                <a:rPr lang="en-US" sz="22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Decorated Abstract Syntax Tree</a:t>
              </a:r>
              <a:endParaRPr lang="en-US" sz="2200" b="0" strike="noStrike" spc="-1">
                <a:latin typeface="Arial"/>
              </a:endParaRPr>
            </a:p>
          </p:txBody>
        </p:sp>
        <p:sp>
          <p:nvSpPr>
            <p:cNvPr id="94" name="AutoShape 10"/>
            <p:cNvSpPr/>
            <p:nvPr/>
          </p:nvSpPr>
          <p:spPr>
            <a:xfrm flipV="1">
              <a:off x="1794600" y="2491200"/>
              <a:ext cx="627840" cy="18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" name="AutoShape 12"/>
            <p:cNvSpPr/>
            <p:nvPr/>
          </p:nvSpPr>
          <p:spPr>
            <a:xfrm flipV="1">
              <a:off x="6444360" y="2361960"/>
              <a:ext cx="1548360" cy="57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6" name="AutoShape 14"/>
            <p:cNvSpPr/>
            <p:nvPr/>
          </p:nvSpPr>
          <p:spPr>
            <a:xfrm flipV="1">
              <a:off x="9857880" y="2361960"/>
              <a:ext cx="537480" cy="57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7" name="Text Box 13"/>
            <p:cNvSpPr/>
            <p:nvPr/>
          </p:nvSpPr>
          <p:spPr>
            <a:xfrm>
              <a:off x="10396080" y="2054520"/>
              <a:ext cx="1640520" cy="109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00"/>
                </a:spcBef>
                <a:buNone/>
              </a:pPr>
              <a:r>
                <a:rPr lang="en-US" sz="2200" b="1" strike="noStrike" spc="-1">
                  <a:solidFill>
                    <a:srgbClr val="002060"/>
                  </a:solidFill>
                  <a:latin typeface="Calibri Light"/>
                  <a:ea typeface="DejaVu Sans"/>
                </a:rPr>
                <a:t>Intermediate Code</a:t>
              </a:r>
              <a:endParaRPr lang="en-US" sz="2200" b="0" strike="noStrike" spc="-1">
                <a:latin typeface="Arial"/>
              </a:endParaRPr>
            </a:p>
          </p:txBody>
        </p:sp>
        <p:sp>
          <p:nvSpPr>
            <p:cNvPr id="98" name="AutoShape 12"/>
            <p:cNvSpPr/>
            <p:nvPr/>
          </p:nvSpPr>
          <p:spPr>
            <a:xfrm flipV="1">
              <a:off x="3634920" y="2497320"/>
              <a:ext cx="1391760" cy="230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9" name="Rectangle 3"/>
          <p:cNvSpPr/>
          <p:nvPr/>
        </p:nvSpPr>
        <p:spPr>
          <a:xfrm>
            <a:off x="685800" y="3771360"/>
            <a:ext cx="10859400" cy="228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Static (Semantic) Checks</a:t>
            </a:r>
            <a:endParaRPr lang="en-US" sz="28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Type checks: </a:t>
            </a:r>
            <a:r>
              <a:rPr lang="en-US" sz="2800" b="1" i="1" strike="noStrike" spc="-1">
                <a:solidFill>
                  <a:srgbClr val="002060"/>
                </a:solidFill>
                <a:latin typeface="Calibri"/>
                <a:ea typeface="DejaVu Sans"/>
              </a:rPr>
              <a:t>operator applied to incompatible operands?</a:t>
            </a:r>
            <a:endParaRPr lang="en-US" sz="28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Flow of control checks: </a:t>
            </a:r>
            <a:r>
              <a:rPr lang="en-US" sz="2800" b="1" i="1" strike="noStrike" spc="-1">
                <a:solidFill>
                  <a:srgbClr val="002060"/>
                </a:solidFill>
                <a:latin typeface="Calibri"/>
                <a:ea typeface="DejaVu Sans"/>
              </a:rPr>
              <a:t>break (outside while?)</a:t>
            </a:r>
            <a:endParaRPr lang="en-US" sz="28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Uniqueness checks: </a:t>
            </a:r>
            <a:r>
              <a:rPr lang="en-US" sz="2800" b="1" i="1" strike="noStrike" spc="-1">
                <a:solidFill>
                  <a:srgbClr val="002060"/>
                </a:solidFill>
                <a:latin typeface="Calibri"/>
                <a:ea typeface="DejaVu Sans"/>
              </a:rPr>
              <a:t>labels in case statements, variable names</a:t>
            </a:r>
            <a:endParaRPr lang="en-US" sz="28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Name related checks: </a:t>
            </a:r>
            <a:r>
              <a:rPr lang="en-US" sz="2800" b="1" i="1" strike="noStrike" spc="-1">
                <a:solidFill>
                  <a:srgbClr val="002060"/>
                </a:solidFill>
                <a:latin typeface="Calibri"/>
                <a:ea typeface="DejaVu Sans"/>
              </a:rPr>
              <a:t>function begin end (Ada)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Language Constructs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Is a syntactically allowable part of a program that may be formed from one or more lexical tokens in accordance with the rules of programming language.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Calibri"/>
              </a:rPr>
              <a:t>printf(“Hello World”)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838080" y="1743840"/>
            <a:ext cx="10514880" cy="480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9000"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We inter information about a name into a symbol table, we can check that the name is declared uniquely.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type checker verifies that the type of a construct matches that expected by its context.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Examples:</a:t>
            </a:r>
            <a:endParaRPr lang="en-US" sz="28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i="1" strike="noStrike" spc="-1">
                <a:solidFill>
                  <a:srgbClr val="002060"/>
                </a:solidFill>
                <a:latin typeface="Calibri"/>
              </a:rPr>
              <a:t>mod requires integer operands (PASCAL)</a:t>
            </a:r>
            <a:endParaRPr lang="en-US" sz="24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i="1" strike="noStrike" spc="-1">
                <a:solidFill>
                  <a:srgbClr val="002060"/>
                </a:solidFill>
                <a:latin typeface="Calibri"/>
              </a:rPr>
              <a:t>* (dereferencing) – applied to a pointer</a:t>
            </a:r>
            <a:endParaRPr lang="en-US" sz="24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i="1" strike="noStrike" spc="-1">
                <a:solidFill>
                  <a:srgbClr val="002060"/>
                </a:solidFill>
                <a:latin typeface="Calibri"/>
              </a:rPr>
              <a:t>a[i] – indexing applied to an array</a:t>
            </a:r>
            <a:endParaRPr lang="en-US" sz="24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i="1" strike="noStrike" spc="-1">
                <a:solidFill>
                  <a:srgbClr val="002060"/>
                </a:solidFill>
                <a:latin typeface="Calibri"/>
              </a:rPr>
              <a:t>f(a1, a2, …, an) – function applied to correct arguments.</a:t>
            </a:r>
            <a:endParaRPr lang="en-US" sz="24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Information gathered by a type checker needed during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code generation</a:t>
            </a: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Static Checking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Systems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743840"/>
            <a:ext cx="10514880" cy="480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design of a type checker for a language is based on information about:</a:t>
            </a:r>
            <a:endParaRPr lang="en-US" sz="2800" b="0" strike="noStrike" spc="-1">
              <a:latin typeface="Arial"/>
            </a:endParaRPr>
          </a:p>
          <a:p>
            <a:pPr marL="971640" lvl="1" indent="-51444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The syntactic constructs in the language.</a:t>
            </a:r>
            <a:endParaRPr lang="en-US" sz="2400" b="0" strike="noStrike" spc="-1">
              <a:latin typeface="Arial"/>
            </a:endParaRPr>
          </a:p>
          <a:p>
            <a:pPr marL="971640" lvl="1" indent="-51444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The notion of types.</a:t>
            </a:r>
            <a:endParaRPr lang="en-US" sz="2400" b="0" strike="noStrike" spc="-1">
              <a:latin typeface="Arial"/>
            </a:endParaRPr>
          </a:p>
          <a:p>
            <a:pPr marL="971640" lvl="1" indent="-51444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The rules for assigning types to the language constructs.</a:t>
            </a:r>
            <a:endParaRPr lang="en-US" sz="24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Examples: If both operators of “+”, “-”, “*” are of type integer then so is the result.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result of the unary “&amp;” operator is a pointer to the object referred to by the operand. If the type of the operand is ‘…….’, the type of the result is ‘pointer to  …………’.</a:t>
            </a: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Systems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743840"/>
            <a:ext cx="10514880" cy="480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 both Pascal and C, types are either basic or constructed.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Basic types are atomic types with no internal structure as far as the programmer is concerned.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 Pascal the basic types are Boolean, character, integer, and real.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Pascal allows a programmer to construct types from basic types.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Pointers and functions can also be treated as constructed types. </a:t>
            </a: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Expressions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743840"/>
            <a:ext cx="10514880" cy="480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type of a language construct will be denoted by a “Type Expression”.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Type Expression </a:t>
            </a:r>
            <a:endParaRPr lang="en-US" sz="2800" b="0" strike="noStrike" spc="-1">
              <a:latin typeface="Arial"/>
            </a:endParaRPr>
          </a:p>
          <a:p>
            <a:pPr marL="914400" lvl="1" indent="-45720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Basic type.</a:t>
            </a:r>
            <a:endParaRPr lang="en-US" sz="2400" b="0" strike="noStrike" spc="-1">
              <a:latin typeface="Arial"/>
            </a:endParaRPr>
          </a:p>
          <a:p>
            <a:pPr marL="914400" lvl="1" indent="-457200" algn="just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Formed by applying an operator called a type constructor to other type expressions.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Definition of Type Expression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A basic type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US" sz="28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 primitive data type such as </a:t>
            </a:r>
            <a:r>
              <a:rPr lang="en-US" sz="2400" b="0" i="1" strike="noStrike" spc="-1">
                <a:solidFill>
                  <a:srgbClr val="000000"/>
                </a:solidFill>
                <a:latin typeface="Calibri"/>
              </a:rPr>
              <a:t>integer, real, char, boolean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, … </a:t>
            </a:r>
            <a:endParaRPr lang="en-US" sz="24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i="1" strike="noStrike" spc="-1">
                <a:solidFill>
                  <a:srgbClr val="000000"/>
                </a:solidFill>
                <a:latin typeface="Calibri"/>
              </a:rPr>
              <a:t>type-error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to signal a type error</a:t>
            </a:r>
            <a:endParaRPr lang="en-US" sz="24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i="1" strike="noStrike" spc="-1">
                <a:solidFill>
                  <a:srgbClr val="000000"/>
                </a:solidFill>
                <a:latin typeface="Calibri"/>
              </a:rPr>
              <a:t>void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: no type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A type name</a:t>
            </a:r>
            <a:endParaRPr lang="en-US" sz="28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 name can be used to denote a type expression.</a:t>
            </a:r>
            <a:endParaRPr lang="en-US" sz="24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typedef int X;</a:t>
            </a:r>
            <a:endParaRPr lang="en-US" sz="24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X a;</a:t>
            </a:r>
            <a:endParaRPr lang="en-US" sz="24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Definition of Type Expression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2060"/>
                </a:solidFill>
                <a:latin typeface="Calibri"/>
              </a:rPr>
              <a:t>A type constructor applies to other type expressions.</a:t>
            </a:r>
            <a:endParaRPr lang="en-US" sz="32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Wingdings" charset="2"/>
              <a:buChar char=""/>
            </a:pPr>
            <a:r>
              <a:rPr lang="en-US" sz="2800" b="1" strike="noStrike" spc="-1">
                <a:solidFill>
                  <a:srgbClr val="002060"/>
                </a:solidFill>
                <a:latin typeface="Calibri"/>
              </a:rPr>
              <a:t>arrays</a:t>
            </a:r>
            <a:r>
              <a:rPr lang="en-US" sz="2800" b="0" strike="noStrike" spc="-1">
                <a:solidFill>
                  <a:srgbClr val="002060"/>
                </a:solidFill>
                <a:latin typeface="Calibri"/>
              </a:rPr>
              <a:t>: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If T is a type expression, then </a:t>
            </a: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array(I,T)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is a type expression denoting the type of an array with elements of type T and index range </a:t>
            </a: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         Example:   var A: array [ 1 .. 10 ] of integer associates the type expression array( 1 .. 10, integer ) with A.</a:t>
            </a:r>
            <a:endParaRPr lang="en-US" sz="2800" b="0" strike="noStrike" spc="-1">
              <a:latin typeface="Arial"/>
            </a:endParaRPr>
          </a:p>
          <a:p>
            <a:pPr marL="685800" lvl="1" indent="-228600" algn="just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Wingdings" charset="2"/>
              <a:buChar char=""/>
            </a:pPr>
            <a:r>
              <a:rPr lang="en-US" sz="2800" b="1" strike="noStrike" spc="-1">
                <a:solidFill>
                  <a:srgbClr val="002060"/>
                </a:solidFill>
                <a:latin typeface="Calibri"/>
              </a:rPr>
              <a:t>pointers</a:t>
            </a:r>
            <a:r>
              <a:rPr lang="en-US" sz="2800" b="0" strike="noStrike" spc="-1">
                <a:solidFill>
                  <a:srgbClr val="002060"/>
                </a:solidFill>
                <a:latin typeface="Calibri"/>
              </a:rPr>
              <a:t>: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If T is a type expression, then  </a:t>
            </a: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pointer(T)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 is a type expression denoting the type “pointer to an object of type T.” example: var p: ↑ row declares variable p to have type pointer(row).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Definition of Type Expression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2060"/>
                </a:solidFill>
                <a:latin typeface="Calibri"/>
              </a:rPr>
              <a:t>Functions:</a:t>
            </a:r>
            <a:r>
              <a:rPr lang="en-US" sz="2800" b="0" strike="noStrike" spc="-1">
                <a:solidFill>
                  <a:srgbClr val="002060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We may treat functions in a programming language as mapping from a domain type D to a range type R. So, the type of a function can be denoted by the type expression</a:t>
            </a: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  D→R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 where D are R type expressions. </a:t>
            </a:r>
            <a:endParaRPr lang="en-US" sz="2800" b="0" strike="noStrike" spc="-1">
              <a:latin typeface="Arial"/>
            </a:endParaRPr>
          </a:p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Built in function mod of pascal has domain type int × int i.e pair of int and range type int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0000"/>
                </a:solidFill>
                <a:latin typeface="Calibri"/>
              </a:rPr>
              <a:t>int × int        int</a:t>
            </a:r>
            <a:endParaRPr lang="en-US" sz="40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116" name="Straight Arrow Connector 3"/>
          <p:cNvSpPr/>
          <p:nvPr/>
        </p:nvSpPr>
        <p:spPr>
          <a:xfrm>
            <a:off x="6278040" y="4763160"/>
            <a:ext cx="657720" cy="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800">
            <a:solidFill>
              <a:srgbClr val="FF0000"/>
            </a:solidFill>
            <a:tailEnd type="arrow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Definition of Type Expression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1000"/>
          </a:bodyPr>
          <a:lstStyle/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2060"/>
                </a:solidFill>
                <a:latin typeface="Calibri"/>
              </a:rPr>
              <a:t>Functions:</a:t>
            </a:r>
            <a:r>
              <a:rPr lang="en-US" sz="2800" b="0" strike="noStrike" spc="-1">
                <a:solidFill>
                  <a:srgbClr val="002060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We may treat functions in a programming language as mapping from a domain type D to a range type R. So, the type of a function can be denoted by the type expression</a:t>
            </a: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  D→R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 where D are R type expressions. </a:t>
            </a:r>
            <a:endParaRPr lang="en-US" sz="28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0000"/>
                </a:solidFill>
                <a:latin typeface="Calibri"/>
              </a:rPr>
              <a:t>function f ( a ,b : char ) :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↑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1" strike="noStrike" spc="-1">
                <a:solidFill>
                  <a:srgbClr val="FF0000"/>
                </a:solidFill>
                <a:latin typeface="Calibri"/>
              </a:rPr>
              <a:t>integer;</a:t>
            </a:r>
            <a:endParaRPr lang="en-US" sz="28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0000"/>
                </a:solidFill>
                <a:latin typeface="Calibri"/>
              </a:rPr>
              <a:t>Domain type char × char and range type pointer(integer)</a:t>
            </a:r>
            <a:endParaRPr lang="en-US" sz="28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0000"/>
                </a:solidFill>
                <a:latin typeface="Calibri"/>
              </a:rPr>
              <a:t>Thus the type of f is denoted by the type expression:</a:t>
            </a:r>
            <a:endParaRPr lang="en-US" sz="28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0000"/>
                </a:solidFill>
                <a:latin typeface="Calibri"/>
              </a:rPr>
              <a:t>char × char         integer pointer</a:t>
            </a:r>
            <a:endParaRPr lang="en-US" sz="28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119" name="Straight Arrow Connector 4"/>
          <p:cNvSpPr/>
          <p:nvPr/>
        </p:nvSpPr>
        <p:spPr>
          <a:xfrm>
            <a:off x="5847840" y="6024960"/>
            <a:ext cx="3801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Definition of Type Expression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2060"/>
                </a:solidFill>
                <a:latin typeface="Calibri"/>
              </a:rPr>
              <a:t>Type Variable:</a:t>
            </a:r>
            <a:r>
              <a:rPr lang="en-US" sz="2800" b="0" strike="noStrike" spc="-1">
                <a:solidFill>
                  <a:srgbClr val="002060"/>
                </a:solidFill>
                <a:latin typeface="Calibri"/>
              </a:rPr>
              <a:t> </a:t>
            </a:r>
            <a:r>
              <a:rPr lang="en-US" sz="2800" b="0" strike="noStrike" spc="-1">
                <a:latin typeface="Calibri"/>
              </a:rPr>
              <a:t>will discuss later</a:t>
            </a:r>
            <a:endParaRPr lang="en-US" sz="2800" b="0" strike="noStrike" spc="-1">
              <a:latin typeface="Arial"/>
            </a:endParaRPr>
          </a:p>
          <a:p>
            <a:pPr marL="457200" algn="ctr">
              <a:lnSpc>
                <a:spcPct val="15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Expression Overall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1182600" y="2017800"/>
            <a:ext cx="7655760" cy="163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Implicit Assumptions:</a:t>
            </a:r>
            <a:endParaRPr lang="en-US" sz="28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Each program has a type</a:t>
            </a:r>
            <a:endParaRPr lang="en-US" sz="24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Types have a structure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4" name="Rectangle 106"/>
          <p:cNvSpPr/>
          <p:nvPr/>
        </p:nvSpPr>
        <p:spPr>
          <a:xfrm rot="5400000">
            <a:off x="3751200" y="1394280"/>
            <a:ext cx="2519640" cy="7655760"/>
          </a:xfrm>
          <a:prstGeom prst="rect">
            <a:avLst/>
          </a:prstGeom>
          <a:gradFill rotWithShape="0">
            <a:gsLst>
              <a:gs pos="0">
                <a:srgbClr val="FFFF4D">
                  <a:alpha val="60000"/>
                </a:srgbClr>
              </a:gs>
              <a:gs pos="50000">
                <a:srgbClr val="FFFFFF">
                  <a:alpha val="60000"/>
                </a:srgbClr>
              </a:gs>
              <a:gs pos="100000">
                <a:srgbClr val="FFFF4D">
                  <a:alpha val="60000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Text Box 4"/>
          <p:cNvSpPr/>
          <p:nvPr/>
        </p:nvSpPr>
        <p:spPr>
          <a:xfrm>
            <a:off x="990720" y="3962520"/>
            <a:ext cx="3809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44546A"/>
                </a:solidFill>
                <a:latin typeface="Comic Sans MS"/>
                <a:ea typeface="DejaVu Sans"/>
              </a:rPr>
              <a:t>Basic Types </a:t>
            </a:r>
            <a:endParaRPr lang="en-US" sz="1800" b="0" strike="noStrike" spc="-1">
              <a:latin typeface="Arial"/>
            </a:endParaRPr>
          </a:p>
        </p:txBody>
      </p:sp>
      <p:graphicFrame>
        <p:nvGraphicFramePr>
          <p:cNvPr id="126" name="Group 71"/>
          <p:cNvGraphicFramePr/>
          <p:nvPr/>
        </p:nvGraphicFramePr>
        <p:xfrm>
          <a:off x="990720" y="4346640"/>
          <a:ext cx="3976560" cy="1675440"/>
        </p:xfrm>
        <a:graphic>
          <a:graphicData uri="http://schemas.openxmlformats.org/drawingml/2006/table">
            <a:tbl>
              <a:tblPr/>
              <a:tblGrid>
                <a:gridCol w="198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160"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omic Sans MS"/>
                        </a:rPr>
                        <a:t>Boolean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omic Sans MS"/>
                        </a:rPr>
                        <a:t>Character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omic Sans MS"/>
                        </a:rPr>
                        <a:t>Real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omic Sans MS"/>
                        </a:rPr>
                        <a:t>Integer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omic Sans MS"/>
                        </a:rPr>
                        <a:t>Enumerations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omic Sans MS"/>
                        </a:rPr>
                        <a:t>Sub-ranges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6600"/>
                          </a:solidFill>
                          <a:latin typeface="Comic Sans MS"/>
                        </a:rPr>
                        <a:t>Void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06600"/>
                          </a:solidFill>
                          <a:latin typeface="Comic Sans MS"/>
                        </a:rPr>
                        <a:t>Error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563C1"/>
                          </a:solidFill>
                          <a:latin typeface="Comic Sans MS"/>
                        </a:rPr>
                        <a:t>Variables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0563C1"/>
                          </a:solidFill>
                          <a:latin typeface="Comic Sans MS"/>
                        </a:rPr>
                        <a:t>Names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7" name="Text Box 73"/>
          <p:cNvSpPr/>
          <p:nvPr/>
        </p:nvSpPr>
        <p:spPr>
          <a:xfrm>
            <a:off x="4419720" y="3962520"/>
            <a:ext cx="3809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44546A"/>
                </a:solidFill>
                <a:latin typeface="Comic Sans MS"/>
                <a:ea typeface="DejaVu Sans"/>
              </a:rPr>
              <a:t>Type Constructors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8" name="Text Box 100"/>
          <p:cNvSpPr/>
          <p:nvPr/>
        </p:nvSpPr>
        <p:spPr>
          <a:xfrm>
            <a:off x="5181480" y="4343400"/>
            <a:ext cx="3809160" cy="171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Arrays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Records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Sets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Pointers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Functions 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600" b="1" strike="noStrike" spc="-1">
                <a:solidFill>
                  <a:srgbClr val="002060"/>
                </a:solidFill>
                <a:latin typeface="Calibri Light"/>
              </a:rPr>
              <a:t>Representation of Type Expressions</a:t>
            </a:r>
            <a:endParaRPr lang="en-US" sz="5600" b="0" strike="noStrike" spc="-1">
              <a:latin typeface="Arial"/>
            </a:endParaRPr>
          </a:p>
        </p:txBody>
      </p:sp>
      <p:grpSp>
        <p:nvGrpSpPr>
          <p:cNvPr id="130" name="Group 3"/>
          <p:cNvGrpSpPr/>
          <p:nvPr/>
        </p:nvGrpSpPr>
        <p:grpSpPr>
          <a:xfrm>
            <a:off x="2590920" y="2225520"/>
            <a:ext cx="5866920" cy="1837080"/>
            <a:chOff x="2590920" y="2225520"/>
            <a:chExt cx="5866920" cy="1837080"/>
          </a:xfrm>
        </p:grpSpPr>
        <p:sp>
          <p:nvSpPr>
            <p:cNvPr id="131" name="Text Box 5"/>
            <p:cNvSpPr/>
            <p:nvPr/>
          </p:nvSpPr>
          <p:spPr>
            <a:xfrm>
              <a:off x="4038840" y="2225520"/>
              <a:ext cx="761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-&gt;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2" name="Text Box 6"/>
            <p:cNvSpPr/>
            <p:nvPr/>
          </p:nvSpPr>
          <p:spPr>
            <a:xfrm>
              <a:off x="3429000" y="3078000"/>
              <a:ext cx="761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3" name="Text Box 7"/>
            <p:cNvSpPr/>
            <p:nvPr/>
          </p:nvSpPr>
          <p:spPr>
            <a:xfrm>
              <a:off x="4572000" y="307800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pointer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4" name="Text Box 8"/>
            <p:cNvSpPr/>
            <p:nvPr/>
          </p:nvSpPr>
          <p:spPr>
            <a:xfrm>
              <a:off x="2590920" y="368748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char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5" name="Text Box 9"/>
            <p:cNvSpPr/>
            <p:nvPr/>
          </p:nvSpPr>
          <p:spPr>
            <a:xfrm>
              <a:off x="3784680" y="369864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char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6" name="AutoShape 10"/>
            <p:cNvSpPr/>
            <p:nvPr/>
          </p:nvSpPr>
          <p:spPr>
            <a:xfrm flipV="1">
              <a:off x="3810240" y="2591640"/>
              <a:ext cx="608760" cy="484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" name="AutoShape 11"/>
            <p:cNvSpPr/>
            <p:nvPr/>
          </p:nvSpPr>
          <p:spPr>
            <a:xfrm>
              <a:off x="4419720" y="2592360"/>
              <a:ext cx="761400" cy="484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8" name="AutoShape 12"/>
            <p:cNvSpPr/>
            <p:nvPr/>
          </p:nvSpPr>
          <p:spPr>
            <a:xfrm flipH="1">
              <a:off x="3199680" y="3444840"/>
              <a:ext cx="608760" cy="242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9" name="AutoShape 13"/>
            <p:cNvSpPr/>
            <p:nvPr/>
          </p:nvSpPr>
          <p:spPr>
            <a:xfrm>
              <a:off x="3810240" y="3444840"/>
              <a:ext cx="583560" cy="2534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0" name="Text Box 15"/>
            <p:cNvSpPr/>
            <p:nvPr/>
          </p:nvSpPr>
          <p:spPr>
            <a:xfrm>
              <a:off x="4800600" y="368748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integer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41" name="AutoShape 16"/>
            <p:cNvSpPr/>
            <p:nvPr/>
          </p:nvSpPr>
          <p:spPr>
            <a:xfrm>
              <a:off x="5181840" y="3444840"/>
              <a:ext cx="227880" cy="242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2" name="Text Box 17"/>
            <p:cNvSpPr/>
            <p:nvPr/>
          </p:nvSpPr>
          <p:spPr>
            <a:xfrm>
              <a:off x="7162920" y="2225520"/>
              <a:ext cx="761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-&gt;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43" name="Text Box 18"/>
            <p:cNvSpPr/>
            <p:nvPr/>
          </p:nvSpPr>
          <p:spPr>
            <a:xfrm>
              <a:off x="6400800" y="3078000"/>
              <a:ext cx="4564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44" name="Text Box 19"/>
            <p:cNvSpPr/>
            <p:nvPr/>
          </p:nvSpPr>
          <p:spPr>
            <a:xfrm>
              <a:off x="7239240" y="306360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pointer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45" name="Text Box 20"/>
            <p:cNvSpPr/>
            <p:nvPr/>
          </p:nvSpPr>
          <p:spPr>
            <a:xfrm>
              <a:off x="7239240" y="368748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integer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46" name="Text Box 21"/>
            <p:cNvSpPr/>
            <p:nvPr/>
          </p:nvSpPr>
          <p:spPr>
            <a:xfrm>
              <a:off x="6019920" y="3686040"/>
              <a:ext cx="1218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01"/>
                </a:spcBef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Courier New"/>
                  <a:ea typeface="DejaVu Sans"/>
                </a:rPr>
                <a:t>char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47" name="AutoShape 22"/>
            <p:cNvSpPr/>
            <p:nvPr/>
          </p:nvSpPr>
          <p:spPr>
            <a:xfrm rot="5400000" flipH="1">
              <a:off x="6302520" y="3360600"/>
              <a:ext cx="423000" cy="227880"/>
            </a:xfrm>
            <a:prstGeom prst="curvedConnector4">
              <a:avLst>
                <a:gd name="adj1" fmla="val 28463"/>
                <a:gd name="adj2" fmla="val 200000"/>
              </a:avLst>
            </a:pr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8" name="AutoShape 23"/>
            <p:cNvSpPr/>
            <p:nvPr/>
          </p:nvSpPr>
          <p:spPr>
            <a:xfrm rot="16200000">
              <a:off x="6531840" y="3360600"/>
              <a:ext cx="423000" cy="227880"/>
            </a:xfrm>
            <a:prstGeom prst="curvedConnector4">
              <a:avLst>
                <a:gd name="adj1" fmla="val 28463"/>
                <a:gd name="adj2" fmla="val 200000"/>
              </a:avLst>
            </a:pr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9" name="AutoShape 24"/>
            <p:cNvSpPr/>
            <p:nvPr/>
          </p:nvSpPr>
          <p:spPr>
            <a:xfrm flipV="1">
              <a:off x="6629400" y="2591640"/>
              <a:ext cx="913680" cy="484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0" name="AutoShape 25"/>
            <p:cNvSpPr/>
            <p:nvPr/>
          </p:nvSpPr>
          <p:spPr>
            <a:xfrm>
              <a:off x="7543800" y="2592360"/>
              <a:ext cx="304200" cy="470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1" name="AutoShape 26"/>
            <p:cNvSpPr/>
            <p:nvPr/>
          </p:nvSpPr>
          <p:spPr>
            <a:xfrm>
              <a:off x="7848720" y="3430440"/>
              <a:ext cx="360" cy="2563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8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52" name="Group 25"/>
          <p:cNvGrpSpPr/>
          <p:nvPr/>
        </p:nvGrpSpPr>
        <p:grpSpPr>
          <a:xfrm>
            <a:off x="3412800" y="4630680"/>
            <a:ext cx="3769920" cy="1123560"/>
            <a:chOff x="3412800" y="4630680"/>
            <a:chExt cx="3769920" cy="1123560"/>
          </a:xfrm>
        </p:grpSpPr>
        <p:sp>
          <p:nvSpPr>
            <p:cNvPr id="153" name="Text Box 14"/>
            <p:cNvSpPr/>
            <p:nvPr/>
          </p:nvSpPr>
          <p:spPr>
            <a:xfrm>
              <a:off x="3664080" y="5405400"/>
              <a:ext cx="3491640" cy="34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850"/>
                </a:spcBef>
                <a:buNone/>
              </a:pPr>
              <a:r>
                <a:rPr lang="en-US" sz="1700" b="0" strike="noStrike" spc="-1">
                  <a:solidFill>
                    <a:srgbClr val="006600"/>
                  </a:solidFill>
                  <a:latin typeface="Comic Sans MS"/>
                  <a:ea typeface="DejaVu Sans"/>
                </a:rPr>
                <a:t>(char x char)-&gt; pointer (integer)</a:t>
              </a:r>
              <a:endParaRPr lang="en-US" sz="1700" b="0" strike="noStrike" spc="-1">
                <a:latin typeface="Arial"/>
              </a:endParaRPr>
            </a:p>
          </p:txBody>
        </p:sp>
        <p:sp>
          <p:nvSpPr>
            <p:cNvPr id="154" name="Text Box 28"/>
            <p:cNvSpPr/>
            <p:nvPr/>
          </p:nvSpPr>
          <p:spPr>
            <a:xfrm>
              <a:off x="3412800" y="4630680"/>
              <a:ext cx="65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Tahoma"/>
                  <a:ea typeface="DejaVu Sans"/>
                </a:rPr>
                <a:t>Tree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55" name="Text Box 29"/>
            <p:cNvSpPr/>
            <p:nvPr/>
          </p:nvSpPr>
          <p:spPr>
            <a:xfrm>
              <a:off x="6501600" y="4638600"/>
              <a:ext cx="681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Tahoma"/>
                  <a:ea typeface="DejaVu Sans"/>
                </a:rPr>
                <a:t>DAG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56" name="AutoShape 30"/>
            <p:cNvSpPr/>
            <p:nvPr/>
          </p:nvSpPr>
          <p:spPr>
            <a:xfrm rot="16200000" flipV="1">
              <a:off x="4372200" y="4365720"/>
              <a:ext cx="407160" cy="166932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7" name="AutoShape 31"/>
            <p:cNvSpPr/>
            <p:nvPr/>
          </p:nvSpPr>
          <p:spPr>
            <a:xfrm rot="5400000" flipH="1" flipV="1">
              <a:off x="5925960" y="4488480"/>
              <a:ext cx="399240" cy="143136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600" b="1" strike="noStrike" spc="-1">
                <a:solidFill>
                  <a:srgbClr val="002060"/>
                </a:solidFill>
                <a:latin typeface="Calibri Light"/>
              </a:rPr>
              <a:t>Static vs Dynamic Checking</a:t>
            </a:r>
            <a:endParaRPr lang="en-US" sz="56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6000"/>
          </a:bodyPr>
          <a:lstStyle/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Checking done by</a:t>
            </a:r>
            <a:r>
              <a:rPr lang="en-US" sz="2800" b="0" strike="noStrike" spc="-1">
                <a:latin typeface="Calibri"/>
              </a:rPr>
              <a:t> a compiler is </a:t>
            </a:r>
            <a:r>
              <a:rPr lang="en-US" sz="2800" b="0" i="1" strike="noStrike" spc="-1">
                <a:latin typeface="Calibri"/>
              </a:rPr>
              <a:t>static</a:t>
            </a:r>
            <a:r>
              <a:rPr lang="en-US" sz="2800" b="0" strike="noStrike" spc="-1">
                <a:latin typeface="Calibri"/>
              </a:rPr>
              <a:t>.</a:t>
            </a:r>
            <a:endParaRPr lang="en-US" sz="2800" b="0" strike="noStrike" spc="-1">
              <a:latin typeface="Arial"/>
            </a:endParaRPr>
          </a:p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latin typeface="Calibri"/>
              </a:rPr>
              <a:t>Checking done when target program runs is dynamic.</a:t>
            </a:r>
            <a:endParaRPr lang="en-US" sz="2800" b="0" strike="noStrike" spc="-1">
              <a:latin typeface="Arial"/>
            </a:endParaRPr>
          </a:p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latin typeface="Calibri"/>
              </a:rPr>
              <a:t>Any check can be done </a:t>
            </a:r>
            <a:r>
              <a:rPr lang="en-US" sz="2800" b="0" i="1" strike="noStrike" spc="-1">
                <a:latin typeface="Calibri"/>
              </a:rPr>
              <a:t>dynamically</a:t>
            </a:r>
            <a:r>
              <a:rPr lang="en-US" sz="2800" b="0" strike="noStrike" spc="-1">
                <a:latin typeface="Calibri"/>
              </a:rPr>
              <a:t>, if the target code carries the </a:t>
            </a:r>
            <a:r>
              <a:rPr lang="en-US" sz="2800" b="0" i="1" strike="noStrike" spc="-1">
                <a:latin typeface="Calibri"/>
              </a:rPr>
              <a:t>type of an element</a:t>
            </a:r>
            <a:r>
              <a:rPr lang="en-US" sz="2800" b="0" strike="noStrike" spc="-1">
                <a:latin typeface="Calibri"/>
              </a:rPr>
              <a:t> along with the </a:t>
            </a:r>
            <a:r>
              <a:rPr lang="en-US" sz="2800" b="0" i="1" strike="noStrike" spc="-1">
                <a:latin typeface="Calibri"/>
              </a:rPr>
              <a:t>value of that element</a:t>
            </a:r>
            <a:r>
              <a:rPr lang="en-US" sz="2800" b="0" strike="noStrike" spc="-1">
                <a:latin typeface="Calibri"/>
              </a:rPr>
              <a:t>.</a:t>
            </a:r>
            <a:endParaRPr lang="en-US" sz="2800" b="0" strike="noStrike" spc="-1">
              <a:latin typeface="Arial"/>
            </a:endParaRPr>
          </a:p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latin typeface="Calibri"/>
              </a:rPr>
              <a:t>Sound type system allows us to determine statically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US" sz="2800" b="0" strike="noStrike" spc="-1"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These errors cannot occur when the target program runs.</a:t>
            </a:r>
            <a:endParaRPr lang="en-US" sz="2800" b="0" strike="noStrike" spc="-1">
              <a:latin typeface="Arial"/>
            </a:endParaRPr>
          </a:p>
          <a:p>
            <a:pPr marL="228600" lvl="1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language is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strongly typed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if its compiler can guarantee that the programs it accepts will execute without type errors.</a:t>
            </a: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Error recovery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8080" y="1583280"/>
            <a:ext cx="10514880" cy="50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Since type checking has the potential for catching errors in programs, it is important to do something when an error is discovered.</a:t>
            </a:r>
            <a:endParaRPr lang="en-US" sz="2800" b="0" strike="noStrike" spc="-1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At the very least, the compiler must report the nature and location of the error.</a:t>
            </a:r>
            <a:endParaRPr lang="en-US" sz="2800" b="0" strike="noStrike" spc="-1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It is desirable for the type checker to recover from errors.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inclusion of error handling may result in a type system that goes beyond the one needed to specify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correct programs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3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002060"/>
                </a:solidFill>
                <a:latin typeface="Calibri Light"/>
              </a:rPr>
              <a:t>Specification of a Simple Type Checker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The type of each identifier must be declared before the identifier is used.</a:t>
            </a:r>
            <a:endParaRPr lang="en-US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The type checker is a translation scheme that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</a:rPr>
              <a:t>synthesizes (or infers)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the type of each expression from the type of its sub-expressions.</a:t>
            </a:r>
            <a:endParaRPr lang="en-US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The type checker can handle arrays, pointers, statements, and functions.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3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002060"/>
                </a:solidFill>
                <a:latin typeface="Calibri Light"/>
              </a:rPr>
              <a:t>Specification of a Simple Type Checker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8080" y="1514880"/>
            <a:ext cx="10514880" cy="514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5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</a:rPr>
              <a:t>A Simple Language:</a:t>
            </a:r>
            <a:endParaRPr lang="en-US" sz="32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Here is a Pascal-like grammar for a sequence of declarations (D) followed by an expression (E).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u="sng" strike="noStrike" spc="-1">
                <a:solidFill>
                  <a:srgbClr val="000000"/>
                </a:solidFill>
                <a:uFillTx/>
                <a:latin typeface="Calibri"/>
              </a:rPr>
              <a:t>Grammar:</a:t>
            </a:r>
            <a:endParaRPr lang="en-US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P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→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;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→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;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|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id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: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T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T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→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char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|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integer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|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array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[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num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]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of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4000" b="1" i="1" strike="noStrike" spc="-1">
                <a:solidFill>
                  <a:srgbClr val="000000"/>
                </a:solidFill>
                <a:latin typeface="Calibri"/>
              </a:rPr>
              <a:t>T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| ↑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T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→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literal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|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num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|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id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|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mod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|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[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] | </a:t>
            </a:r>
            <a:r>
              <a:rPr lang="en-US" sz="4000" b="0" i="1" strike="noStrike" spc="-1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 ↑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C00000"/>
                </a:solidFill>
                <a:latin typeface="Calibri Light"/>
              </a:rPr>
              <a:t>Basic Types: char, integer, type-error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1" u="sng" strike="noStrike" spc="-1">
                <a:solidFill>
                  <a:srgbClr val="002060"/>
                </a:solidFill>
                <a:uFillTx/>
                <a:latin typeface="Calibri"/>
              </a:rPr>
              <a:t>Sample Program:</a:t>
            </a:r>
            <a:endParaRPr lang="en-US" sz="40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002060"/>
                </a:solidFill>
                <a:latin typeface="Calibri"/>
              </a:rPr>
              <a:t>Key: integer; X: integer; Key mod x</a:t>
            </a:r>
            <a:endParaRPr lang="en-US" sz="40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3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002060"/>
                </a:solidFill>
                <a:latin typeface="Calibri Light"/>
              </a:rPr>
              <a:t>Specification of a Simple Type Checker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514880"/>
            <a:ext cx="10514880" cy="514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basic types are char and integer.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Type_error signals an error.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B050"/>
              </a:buClr>
              <a:buFont typeface="Arial"/>
              <a:buChar char="•"/>
            </a:pPr>
            <a:r>
              <a:rPr lang="en-US" sz="2800" b="0" strike="noStrike" spc="-1">
                <a:latin typeface="Calibri"/>
              </a:rPr>
              <a:t>All arrays start at 1, so </a:t>
            </a:r>
            <a:r>
              <a:rPr lang="en-US" sz="2800" b="1" strike="noStrike" spc="-1">
                <a:latin typeface="Calibri"/>
              </a:rPr>
              <a:t>array[256] of char</a:t>
            </a:r>
            <a:r>
              <a:rPr lang="en-US" sz="2800" b="0" strike="noStrike" spc="-1">
                <a:latin typeface="Calibri"/>
              </a:rPr>
              <a:t> leads to  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TE : array(1..256,char)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                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B05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latin typeface="Calibri"/>
              </a:rPr>
              <a:t>The symbol ↑ in an declaration specifies a pointer type, so  </a:t>
            </a:r>
            <a:r>
              <a:rPr lang="en-US" sz="2800" b="1" strike="noStrike" spc="-1">
                <a:latin typeface="Calibri"/>
              </a:rPr>
              <a:t>↑ integer</a:t>
            </a:r>
            <a:r>
              <a:rPr lang="en-US" sz="2800" b="0" strike="noStrike" spc="-1">
                <a:latin typeface="Calibri"/>
              </a:rPr>
              <a:t> leads to  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TE : pointer(integer)</a:t>
            </a:r>
            <a:endParaRPr lang="en-US" sz="28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  <p:grpSp>
        <p:nvGrpSpPr>
          <p:cNvPr id="168" name="Group 3"/>
          <p:cNvGrpSpPr/>
          <p:nvPr/>
        </p:nvGrpSpPr>
        <p:grpSpPr>
          <a:xfrm>
            <a:off x="4827600" y="3441600"/>
            <a:ext cx="4319640" cy="832320"/>
            <a:chOff x="4827600" y="3441600"/>
            <a:chExt cx="4319640" cy="832320"/>
          </a:xfrm>
        </p:grpSpPr>
        <p:sp>
          <p:nvSpPr>
            <p:cNvPr id="169" name="Straight Arrow Connector 4"/>
            <p:cNvSpPr/>
            <p:nvPr/>
          </p:nvSpPr>
          <p:spPr>
            <a:xfrm flipV="1">
              <a:off x="5772960" y="3441600"/>
              <a:ext cx="225720" cy="3801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0" name="Straight Arrow Connector 5"/>
            <p:cNvSpPr/>
            <p:nvPr/>
          </p:nvSpPr>
          <p:spPr>
            <a:xfrm>
              <a:off x="7885080" y="3442320"/>
              <a:ext cx="343800" cy="3801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1" name="TextBox 7"/>
            <p:cNvSpPr/>
            <p:nvPr/>
          </p:nvSpPr>
          <p:spPr>
            <a:xfrm>
              <a:off x="4827600" y="3909960"/>
              <a:ext cx="1409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Arial"/>
                  <a:ea typeface="DejaVu Sans"/>
                </a:rPr>
                <a:t>Constructor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72" name="TextBox 10"/>
            <p:cNvSpPr/>
            <p:nvPr/>
          </p:nvSpPr>
          <p:spPr>
            <a:xfrm>
              <a:off x="7738200" y="3897000"/>
              <a:ext cx="1409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Arial"/>
                  <a:ea typeface="DejaVu Sans"/>
                </a:rPr>
                <a:t> Basic Type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173" name="Group 12"/>
          <p:cNvGrpSpPr/>
          <p:nvPr/>
        </p:nvGrpSpPr>
        <p:grpSpPr>
          <a:xfrm>
            <a:off x="4925520" y="5963760"/>
            <a:ext cx="4319640" cy="664920"/>
            <a:chOff x="4925520" y="5963760"/>
            <a:chExt cx="4319640" cy="664920"/>
          </a:xfrm>
        </p:grpSpPr>
        <p:sp>
          <p:nvSpPr>
            <p:cNvPr id="174" name="Straight Arrow Connector 13"/>
            <p:cNvSpPr/>
            <p:nvPr/>
          </p:nvSpPr>
          <p:spPr>
            <a:xfrm flipV="1">
              <a:off x="5870880" y="5963400"/>
              <a:ext cx="225720" cy="2444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5" name="Straight Arrow Connector 14"/>
            <p:cNvSpPr/>
            <p:nvPr/>
          </p:nvSpPr>
          <p:spPr>
            <a:xfrm>
              <a:off x="7982640" y="5964120"/>
              <a:ext cx="343800" cy="2444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" name="TextBox 7"/>
            <p:cNvSpPr/>
            <p:nvPr/>
          </p:nvSpPr>
          <p:spPr>
            <a:xfrm>
              <a:off x="4925520" y="6264720"/>
              <a:ext cx="1409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Arial"/>
                  <a:ea typeface="DejaVu Sans"/>
                </a:rPr>
                <a:t>Constructor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77" name="TextBox 10"/>
            <p:cNvSpPr/>
            <p:nvPr/>
          </p:nvSpPr>
          <p:spPr>
            <a:xfrm>
              <a:off x="7836120" y="6256440"/>
              <a:ext cx="1409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Arial"/>
                  <a:ea typeface="DejaVu Sans"/>
                </a:rPr>
                <a:t> Basic Type</a:t>
              </a:r>
              <a:endParaRPr lang="en-US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002060"/>
                </a:solidFill>
                <a:latin typeface="Calibri Light"/>
              </a:rPr>
              <a:t>Translation Scheme for Declarations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97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P → D ; E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D → D ; D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D → id : T 		   { addtype(id.entry, T.type)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T → char 		   { T.type := char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T → integer 		   { T.type := integer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T → ↑T</a:t>
            </a:r>
            <a:r>
              <a:rPr lang="en-US" sz="2400" b="1" strike="noStrike" spc="-1" baseline="-25000">
                <a:solidFill>
                  <a:srgbClr val="002060"/>
                </a:solidFill>
                <a:latin typeface="Calibri"/>
              </a:rPr>
              <a:t>1</a:t>
            </a: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 		   { T.type := pointer(T</a:t>
            </a:r>
            <a:r>
              <a:rPr lang="en-US" sz="2400" b="1" strike="noStrike" spc="-1" baseline="-25000">
                <a:solidFill>
                  <a:srgbClr val="002060"/>
                </a:solidFill>
                <a:latin typeface="Calibri"/>
              </a:rPr>
              <a:t>1</a:t>
            </a: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.type)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T → array [ num ] of T</a:t>
            </a:r>
            <a:r>
              <a:rPr lang="en-US" sz="2400" b="1" strike="noStrike" spc="-1" baseline="-25000">
                <a:solidFill>
                  <a:srgbClr val="002060"/>
                </a:solidFill>
                <a:latin typeface="Calibri"/>
              </a:rPr>
              <a:t>1  </a:t>
            </a: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   { T.type := array(1 .. num.val, T</a:t>
            </a:r>
            <a:r>
              <a:rPr lang="en-US" sz="2400" b="1" strike="noStrike" spc="-1" baseline="-25000">
                <a:solidFill>
                  <a:srgbClr val="002060"/>
                </a:solidFill>
                <a:latin typeface="Calibri"/>
              </a:rPr>
              <a:t>1</a:t>
            </a:r>
            <a:r>
              <a:rPr lang="en-US" sz="2400" b="1" strike="noStrike" spc="-1">
                <a:solidFill>
                  <a:srgbClr val="002060"/>
                </a:solidFill>
                <a:latin typeface="Calibri"/>
              </a:rPr>
              <a:t>.type) }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80" name="Rectangle 4"/>
          <p:cNvSpPr/>
          <p:nvPr/>
        </p:nvSpPr>
        <p:spPr>
          <a:xfrm>
            <a:off x="1313640" y="5062320"/>
            <a:ext cx="8228880" cy="100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0000"/>
                </a:solidFill>
                <a:latin typeface="Arial"/>
                <a:ea typeface="DejaVu Sans"/>
              </a:rPr>
              <a:t>Try to derive the annotated parse tree for the</a:t>
            </a:r>
            <a:endParaRPr lang="en-US" sz="2400" b="0" strike="noStrike" spc="-1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0000"/>
                </a:solidFill>
                <a:latin typeface="Arial"/>
                <a:ea typeface="DejaVu Sans"/>
              </a:rPr>
              <a:t>declaration X: array[100] of ↑ char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77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Checking for Expressions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838080" y="1481040"/>
            <a:ext cx="10514880" cy="10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algn="just">
              <a:lnSpc>
                <a:spcPct val="100000"/>
              </a:lnSpc>
              <a:buClr>
                <a:srgbClr val="000000"/>
              </a:buClr>
              <a:buSzPct val="70000"/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Once the identifiers and their types have been inserted into the symbol table, we can check the type of the elements of an expression: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83" name="Rectangle 3"/>
          <p:cNvSpPr/>
          <p:nvPr/>
        </p:nvSpPr>
        <p:spPr>
          <a:xfrm>
            <a:off x="1170720" y="2560680"/>
            <a:ext cx="10182240" cy="41533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→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literal 	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E.type := char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→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num 	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E.type := integer 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→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id 	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E.type := lookup(id.entry) 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→ 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mod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	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E</a:t>
            </a:r>
            <a:r>
              <a:rPr lang="en-US" sz="2400" b="1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.type =integer and E</a:t>
            </a:r>
            <a:r>
              <a:rPr lang="en-US" sz="2400" b="1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.type = integer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then</a:t>
            </a: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E.type := integer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				 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else</a:t>
            </a: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E.type := type_error</a:t>
            </a:r>
            <a:r>
              <a:rPr lang="en-US" sz="2400" b="1" strike="noStrike" spc="-1">
                <a:solidFill>
                  <a:srgbClr val="00B050"/>
                </a:solidFill>
                <a:latin typeface="Calibri"/>
                <a:ea typeface="DejaVu Sans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→ 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[ 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] 	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{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 = integer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 = array(s,t)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				 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then</a:t>
            </a: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E.type := t else</a:t>
            </a: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E.type := type_error 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→ E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↑ 	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E</a:t>
            </a:r>
            <a:r>
              <a:rPr lang="en-US" sz="2400" b="1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.type = pointer(t)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				  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then</a:t>
            </a: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E.type := t else</a:t>
            </a:r>
            <a:r>
              <a:rPr lang="en-US" sz="2400" b="1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C00000"/>
                </a:solidFill>
                <a:latin typeface="Calibri"/>
                <a:ea typeface="DejaVu Sans"/>
              </a:rPr>
              <a:t>E.type := type-error </a:t>
            </a:r>
            <a:r>
              <a:rPr lang="en-US" sz="24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6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How About Boolean Types?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Try adding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T -&gt; boolean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Relational operators &lt;  &lt;=  =  &gt;=  &gt;  &lt;&gt;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Logical connectives and or not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 the grammar, then add appropriate type checking semantic actions.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Checking for Statements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57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Usually we assign the type VOID to statements.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If a type error is found during type checking, though, we should set the type to type_error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Let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’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 change our grammar allow statements: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C00000"/>
                </a:solidFill>
                <a:latin typeface="Calibri"/>
              </a:rPr>
              <a:t>P → D ; S</a:t>
            </a:r>
            <a:endParaRPr lang="en-US" sz="4400" b="0" strike="noStrike" spc="-1">
              <a:latin typeface="Arial"/>
            </a:endParaRPr>
          </a:p>
          <a:p>
            <a:pPr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i.e., a program is a sequence of declarations followed by a sequence of statements.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Checking for Statements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1351080" y="1690560"/>
            <a:ext cx="9361800" cy="50641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9000"/>
          </a:bodyPr>
          <a:lstStyle/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 →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id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:= E 		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id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 = E.type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then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void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else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type_error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 →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then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	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E.type = boolean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 then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 else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type_error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 →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do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	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E.type = boolean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 then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 else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type_error }</a:t>
            </a:r>
            <a:endParaRPr lang="en-US" sz="2400" b="0" strike="noStrike" spc="-1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 → 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; 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		{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 = void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en-US" sz="2400" b="0" strike="noStrike" spc="-1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.type = void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 then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void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				   else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S.type := type_error.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6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Checking of Functions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Suppose we add a production E → E ( E )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Then we need productions for function declarations: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 → T1 ‘→’ T2 		{ T.type := T1.type → T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.type }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and function calls: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E → E1 ( E2 ) 		{ 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if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E2.type = s 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and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E1.type = s → t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			   then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E.type := t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			   else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E.type := type_error }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6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Checking of Functions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just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Multiple-argument functions, however, can be modeled as functions that take a single PRODUCT argument.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C00000"/>
                </a:solidFill>
                <a:latin typeface="Calibri"/>
              </a:rPr>
              <a:t>root : ( real → real ) x real → real</a:t>
            </a:r>
            <a:endParaRPr lang="en-US" sz="4000" b="0" strike="noStrike" spc="-1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This would model a function that takes a real function over the reals, and a real, and returns a real. 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C00000"/>
                </a:solidFill>
                <a:latin typeface="Calibri"/>
              </a:rPr>
              <a:t>In C: float root( float (*f)(float), float x );</a:t>
            </a:r>
            <a:endParaRPr lang="en-US" sz="4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C00000"/>
                </a:solidFill>
                <a:latin typeface="Calibri"/>
              </a:rPr>
              <a:t>function root (function f (real) : real; x: real): real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6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Checking of Functions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just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What about overloaded functions?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  <a:ea typeface="Noto Sans CJK SC"/>
              </a:rPr>
              <a:t>Op “*” : int x int </a:t>
            </a: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→ int 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  <a:ea typeface="Noto Sans CJK SC"/>
              </a:rPr>
              <a:t>Op “*” : int x int </a:t>
            </a: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→ complex 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  <a:ea typeface="Noto Sans CJK SC"/>
              </a:rPr>
              <a:t>Op “*” : complex x complex → </a:t>
            </a: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complex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2*(3*5) or (3*5)*z </a:t>
            </a:r>
            <a:endParaRPr lang="en-US" sz="3200" b="0" strike="noStrike" spc="-1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What if can’t infer from args?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>
              <a:latin typeface="Arial"/>
            </a:endParaRPr>
          </a:p>
        </p:txBody>
      </p:sp>
      <p:pic>
        <p:nvPicPr>
          <p:cNvPr id="196" name="Picture 195"/>
          <p:cNvPicPr/>
          <p:nvPr/>
        </p:nvPicPr>
        <p:blipFill>
          <a:blip r:embed="rId2"/>
          <a:stretch/>
        </p:blipFill>
        <p:spPr>
          <a:xfrm>
            <a:off x="1553040" y="5410440"/>
            <a:ext cx="9191160" cy="761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Conversions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838080" y="1689120"/>
            <a:ext cx="10514880" cy="471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 algn="just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Expression </a:t>
            </a: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x + i</a:t>
            </a:r>
            <a:r>
              <a:rPr lang="en-US" sz="3200" b="0" strike="noStrike" spc="-1">
                <a:solidFill>
                  <a:srgbClr val="C00000"/>
                </a:solidFill>
                <a:latin typeface="Calibri"/>
              </a:rPr>
              <a:t> 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where x is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rea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 and i is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integer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Compiler ensures that both operands of + operator are of same type by type conversion.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Convert according to the left assignment.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type conversions are language dependent.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Postfix notation for </a:t>
            </a: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x + i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, might be</a:t>
            </a:r>
            <a:endParaRPr lang="en-US" sz="2800" b="0" strike="noStrike" spc="-1">
              <a:latin typeface="Arial"/>
            </a:endParaRPr>
          </a:p>
          <a:p>
            <a:pPr marL="457200" algn="just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C00000"/>
                </a:solidFill>
                <a:latin typeface="Calibri"/>
              </a:rPr>
              <a:t>x  i   inttoreal   real+</a:t>
            </a:r>
            <a:endParaRPr lang="en-US" sz="3200" b="0" strike="noStrike" spc="-1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Coercions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Conversion from one type to another is said to be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implicit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if it is to be done automatically by the computer.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Implicit</a:t>
            </a:r>
            <a:r>
              <a:rPr lang="en-US" sz="2800" b="1" strike="noStrike" spc="-1">
                <a:solidFill>
                  <a:srgbClr val="ED7D31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type conversions are called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coercions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Conversion is said to be explicit if the programmer must write something  to cause the conversion.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Conversions  like 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x = ( int ) y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are explicit.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173880"/>
            <a:ext cx="10514880" cy="87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Type Conversions –  Example 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38080" y="1050840"/>
            <a:ext cx="10514880" cy="5663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6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Expression formed by applying arithmetic operator </a:t>
            </a:r>
            <a:r>
              <a:rPr lang="en-US" sz="2800" b="1" i="1" strike="noStrike" spc="-1">
                <a:solidFill>
                  <a:srgbClr val="000000"/>
                </a:solidFill>
                <a:latin typeface="Calibri"/>
              </a:rPr>
              <a:t>op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 constants and identifiers.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Two basic data types –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Integer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real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600" b="1" u="sng" strike="noStrike" spc="-1">
                <a:solidFill>
                  <a:srgbClr val="000000"/>
                </a:solidFill>
                <a:uFillTx/>
                <a:latin typeface="Calibri"/>
              </a:rPr>
              <a:t>Production</a:t>
            </a:r>
            <a:r>
              <a:rPr lang="en-US" sz="3600" b="1" strike="noStrike" spc="-1">
                <a:solidFill>
                  <a:srgbClr val="000000"/>
                </a:solidFill>
                <a:latin typeface="Calibri"/>
              </a:rPr>
              <a:t>                      </a:t>
            </a:r>
            <a:r>
              <a:rPr lang="en-US" sz="3600" b="1" u="sng" strike="noStrike" spc="-1">
                <a:solidFill>
                  <a:srgbClr val="000000"/>
                </a:solidFill>
                <a:uFillTx/>
                <a:latin typeface="Calibri"/>
              </a:rPr>
              <a:t>Semantic Rule</a:t>
            </a:r>
            <a:endParaRPr lang="en-US" sz="36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 →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num	                             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{ E.type = integer }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 →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num.num	          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{ E.type = real }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 →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id		          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{ E.type = lookup(id.entry) }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 →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op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  	           { E.type =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if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.type=integer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and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.type=integer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	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then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integer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else if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.type=integer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and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.type=real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	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then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real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else if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.type=real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and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.type=integer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	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then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real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 	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else if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.type=real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and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E</a:t>
            </a:r>
            <a:r>
              <a:rPr lang="en-US" sz="2800" b="0" strike="noStrike" spc="-1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.type=real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	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then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real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				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else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type-error }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173880"/>
            <a:ext cx="10514880" cy="135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81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Type Conversions –  Example 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838080" y="1528560"/>
            <a:ext cx="10514880" cy="459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Implicit conversion of constants can usually be done at compile time, often with a great improvement to the running time of the object program.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Let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X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be an array of real type.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for I = 1 to N do X[I] = 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,  took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48.4N microseconds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for a Pascal Compiler.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for I = 1 to N do X[I] = 1.0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,  took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5.4N microseconds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en-US" sz="2800" b="0" strike="noStrike" spc="-1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Here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1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is converted to </a:t>
            </a:r>
            <a:r>
              <a:rPr lang="en-US" sz="3200" b="1" i="1" strike="noStrike" spc="-1">
                <a:solidFill>
                  <a:srgbClr val="C00000"/>
                </a:solidFill>
                <a:latin typeface="Calibri"/>
              </a:rPr>
              <a:t>1.0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at compile time.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</TotalTime>
  <Words>1814</Words>
  <Application>Microsoft Office PowerPoint</Application>
  <PresentationFormat>Widescreen</PresentationFormat>
  <Paragraphs>271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Arial</vt:lpstr>
      <vt:lpstr>Calibri</vt:lpstr>
      <vt:lpstr>Calibri Light</vt:lpstr>
      <vt:lpstr>Comic Sans MS</vt:lpstr>
      <vt:lpstr>Courier New</vt:lpstr>
      <vt:lpstr>DejaVu Sans</vt:lpstr>
      <vt:lpstr>Noto Sans CJK SC</vt:lpstr>
      <vt:lpstr>Symbol</vt:lpstr>
      <vt:lpstr>Tahoma</vt:lpstr>
      <vt:lpstr>Times New Roman</vt:lpstr>
      <vt:lpstr>Wingdings</vt:lpstr>
      <vt:lpstr>Office Theme</vt:lpstr>
      <vt:lpstr>Office Theme</vt:lpstr>
      <vt:lpstr>Type Checking</vt:lpstr>
      <vt:lpstr>Introduction</vt:lpstr>
      <vt:lpstr>Static Checking</vt:lpstr>
      <vt:lpstr>Language Constructs</vt:lpstr>
      <vt:lpstr>Static Checking</vt:lpstr>
      <vt:lpstr>Type Systems</vt:lpstr>
      <vt:lpstr>Type Systems</vt:lpstr>
      <vt:lpstr>Type Expressions</vt:lpstr>
      <vt:lpstr>Definition of Type Expression</vt:lpstr>
      <vt:lpstr>Definition of Type Expression</vt:lpstr>
      <vt:lpstr>Definition of Type Expression</vt:lpstr>
      <vt:lpstr>Definition of Type Expression</vt:lpstr>
      <vt:lpstr>Definition of Type Expression</vt:lpstr>
      <vt:lpstr>Type Expression Overall</vt:lpstr>
      <vt:lpstr>Representation of Type Expressions</vt:lpstr>
      <vt:lpstr>Static vs Dynamic Checking</vt:lpstr>
      <vt:lpstr>Error recovery</vt:lpstr>
      <vt:lpstr>Specification of a Simple Type Checker</vt:lpstr>
      <vt:lpstr>Specification of a Simple Type Checker</vt:lpstr>
      <vt:lpstr>Specification of a Simple Type Checker</vt:lpstr>
      <vt:lpstr>Translation Scheme for Declarations</vt:lpstr>
      <vt:lpstr>Type Checking for Expressions</vt:lpstr>
      <vt:lpstr>How About Boolean Types?</vt:lpstr>
      <vt:lpstr>Type Checking for Statements</vt:lpstr>
      <vt:lpstr>Type Checking for Statements</vt:lpstr>
      <vt:lpstr>Type Checking of Functions</vt:lpstr>
      <vt:lpstr>Type Checking of Functions</vt:lpstr>
      <vt:lpstr>Type Checking of Functions</vt:lpstr>
      <vt:lpstr>Type Conversions</vt:lpstr>
      <vt:lpstr>Coercions</vt:lpstr>
      <vt:lpstr>Type Conversions –  Example </vt:lpstr>
      <vt:lpstr>Type Conversions –  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Checking</dc:title>
  <dc:subject/>
  <dc:creator>Imran</dc:creator>
  <dc:description/>
  <cp:lastModifiedBy>ANTU</cp:lastModifiedBy>
  <cp:revision>133</cp:revision>
  <dcterms:created xsi:type="dcterms:W3CDTF">2015-01-12T19:33:03Z</dcterms:created>
  <dcterms:modified xsi:type="dcterms:W3CDTF">2026-04-04T11:25:01Z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32</vt:i4>
  </property>
</Properties>
</file>